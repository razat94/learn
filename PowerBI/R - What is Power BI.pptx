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2" r:id="rId4"/>
  </p:sldMasterIdLst>
  <p:notesMasterIdLst>
    <p:notesMasterId r:id="rId19"/>
  </p:notesMasterIdLst>
  <p:handoutMasterIdLst>
    <p:handoutMasterId r:id="rId20"/>
  </p:handoutMasterIdLst>
  <p:sldIdLst>
    <p:sldId id="565" r:id="rId5"/>
    <p:sldId id="363" r:id="rId6"/>
    <p:sldId id="378" r:id="rId7"/>
    <p:sldId id="566" r:id="rId8"/>
    <p:sldId id="368" r:id="rId9"/>
    <p:sldId id="373" r:id="rId10"/>
    <p:sldId id="308" r:id="rId11"/>
    <p:sldId id="369" r:id="rId12"/>
    <p:sldId id="366" r:id="rId13"/>
    <p:sldId id="374" r:id="rId14"/>
    <p:sldId id="375" r:id="rId15"/>
    <p:sldId id="567" r:id="rId16"/>
    <p:sldId id="313" r:id="rId17"/>
    <p:sldId id="5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5687"/>
    <a:srgbClr val="025C90"/>
    <a:srgbClr val="003B5C"/>
    <a:srgbClr val="8BB8E8"/>
    <a:srgbClr val="0055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0313" autoAdjust="0"/>
  </p:normalViewPr>
  <p:slideViewPr>
    <p:cSldViewPr snapToGrid="0">
      <p:cViewPr varScale="1">
        <p:scale>
          <a:sx n="57" d="100"/>
          <a:sy n="57" d="100"/>
        </p:scale>
        <p:origin x="984" y="40"/>
      </p:cViewPr>
      <p:guideLst/>
    </p:cSldViewPr>
  </p:slideViewPr>
  <p:outlineViewPr>
    <p:cViewPr>
      <p:scale>
        <a:sx n="33" d="100"/>
        <a:sy n="33" d="100"/>
      </p:scale>
      <p:origin x="0" y="-144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D0B883-0A39-E05B-61ED-5FE94E7E6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B2735-0E3E-EB93-68DA-1402951418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DA340-CA88-40FE-8D9F-FB95A67E2AC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1912F7-468D-0E8D-7580-A7ADE9D11B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DA9A4-3BA2-3E7F-4048-A9EB25D5A2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C7120-FABF-42CA-85D1-839480B5B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99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BC4F2-6A87-450D-AD53-D2188421BC53}" type="datetimeFigureOut">
              <a:rPr lang="en-US" smtClean="0"/>
              <a:t>6/9/2026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B2649-7BD8-4005-A99E-30D13769A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8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DA35F-9E58-5D40-92C1-D8C7631003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08853-AFE7-246A-F2B6-8E836D7D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19951-2B81-586D-8FAD-900324133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17967-95B5-44AB-67EF-12D2596FB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Visuals including but not limited to:</a:t>
            </a:r>
          </a:p>
          <a:p>
            <a:r>
              <a:rPr lang="en-US" dirty="0"/>
              <a:t>Maps, Tables, Graphs &amp; Charts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82753-FC70-AF16-04DD-A789103B9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DA35F-9E58-5D40-92C1-D8C7631003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13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878256-368D-4B68-97C3-0D0BD40CE8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173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71606-4568-060C-2B6E-A84730527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B3622-22E1-EAAF-C96E-587CE4912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87FB7-1171-9827-7AD8-7068F2851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84F6C-3048-1D1E-739C-879A23B99A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878256-368D-4B68-97C3-0D0BD40CE8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1377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878256-368D-4B68-97C3-0D0BD40CE8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2657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DA35F-9E58-5D40-92C1-D8C7631003B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40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400F6-D7CD-DEE9-DB8C-16B2D3DBB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1D64F-FD89-A626-8EE8-448489E2E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7A2C1-17B8-C56D-C0D3-D04AFEA39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616EE-5372-D8E4-E707-9B5D11C92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DDA35F-9E58-5D40-92C1-D8C7631003B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36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760CF1-E489-D89B-226A-6DCFCD6AC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1" y="0"/>
            <a:ext cx="12192001" cy="68567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3480786"/>
            <a:ext cx="10363200" cy="1362075"/>
          </a:xfrm>
        </p:spPr>
        <p:txBody>
          <a:bodyPr anchor="t"/>
          <a:lstStyle>
            <a:lvl1pPr algn="ctr">
              <a:defRPr sz="4000" b="0" cap="none" baseline="0">
                <a:latin typeface="+mn-lt"/>
              </a:defRPr>
            </a:lvl1pPr>
          </a:lstStyle>
          <a:p>
            <a:r>
              <a:rPr lang="en-US" dirty="0"/>
              <a:t>Click to add Topic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1980599"/>
            <a:ext cx="10363200" cy="1500187"/>
          </a:xfrm>
        </p:spPr>
        <p:txBody>
          <a:bodyPr anchor="b"/>
          <a:lstStyle>
            <a:lvl1pPr marL="0" indent="0" algn="ctr">
              <a:buNone/>
              <a:defRPr sz="4000">
                <a:solidFill>
                  <a:srgbClr val="8BB8E8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"Topic [letter]"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67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4BB179B-B17D-61E8-3A28-A48966BA0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6857997" cy="6858001"/>
          </a:xfrm>
          <a:prstGeom prst="rect">
            <a:avLst/>
          </a:prstGeom>
          <a:gradFill flip="none" rotWithShape="1">
            <a:gsLst>
              <a:gs pos="10000">
                <a:srgbClr val="FA2481"/>
              </a:gs>
              <a:gs pos="90000">
                <a:srgbClr val="42B3BD"/>
              </a:gs>
              <a:gs pos="70000">
                <a:srgbClr val="51B851"/>
              </a:gs>
              <a:gs pos="30000">
                <a:srgbClr val="F58505"/>
              </a:gs>
              <a:gs pos="50000">
                <a:srgbClr val="B5A603">
                  <a:lumMod val="60000"/>
                  <a:lumOff val="40000"/>
                </a:srgbClr>
              </a:gs>
            </a:gsLst>
            <a:lin ang="7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F4B644F-A23D-409C-9540-B41AC18DB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7997" y="0"/>
            <a:ext cx="533400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320B4-1D6E-D480-A44F-13517DFF7C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6640" y="841248"/>
            <a:ext cx="4114800" cy="347472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Title</a:t>
            </a:r>
          </a:p>
        </p:txBody>
      </p:sp>
      <p:sp>
        <p:nvSpPr>
          <p:cNvPr id="9" name="Subtitle 19">
            <a:extLst>
              <a:ext uri="{FF2B5EF4-FFF2-40B4-BE49-F238E27FC236}">
                <a16:creationId xmlns:a16="http://schemas.microsoft.com/office/drawing/2014/main" id="{E8F46CAD-D4FF-4BBC-937E-CBBD034A1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06641" y="4570807"/>
            <a:ext cx="4114800" cy="1524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algn="l"/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2750E7C-D01B-4533-A0B8-2E7EF2B168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9475" y="841248"/>
            <a:ext cx="6099048" cy="5253558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7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Right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2A5B690-D47A-166B-0BEE-8CDC1BB5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496" y="286004"/>
            <a:ext cx="8690864" cy="6283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99B7A4E-1E73-5148-8EF4-5232DBEAFE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23696" y="1371600"/>
            <a:ext cx="5212080" cy="45720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03FB64-FE27-1F69-8411-8C0129B18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3066288" y="3063240"/>
            <a:ext cx="6858000" cy="731520"/>
          </a:xfrm>
          <a:prstGeom prst="rect">
            <a:avLst/>
          </a:prstGeom>
          <a:gradFill flip="none" rotWithShape="1">
            <a:gsLst>
              <a:gs pos="10000">
                <a:srgbClr val="FA2481"/>
              </a:gs>
              <a:gs pos="90000">
                <a:srgbClr val="42B3BD"/>
              </a:gs>
              <a:gs pos="70000">
                <a:srgbClr val="51B851"/>
              </a:gs>
              <a:gs pos="30000">
                <a:srgbClr val="F58505"/>
              </a:gs>
              <a:gs pos="50000">
                <a:srgbClr val="B5A603">
                  <a:lumMod val="60000"/>
                  <a:lumOff val="40000"/>
                </a:srgbClr>
              </a:gs>
            </a:gsLst>
            <a:lin ang="7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607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FAC5ABB9-3EAC-446C-B128-CFDB09B24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9C2616F-4436-4A60-BB08-54EC762C5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62001"/>
            <a:ext cx="12192000" cy="6095999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2A5B690-D47A-166B-0BEE-8CDC1BB5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517904"/>
            <a:ext cx="4114800" cy="4572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99B7A4E-1E73-5148-8EF4-5232DBEAFE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517904"/>
            <a:ext cx="5212080" cy="45720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E75E88-8240-7CC5-7726-01AFCE9E3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749808"/>
          </a:xfrm>
          <a:prstGeom prst="rect">
            <a:avLst/>
          </a:prstGeom>
          <a:gradFill flip="none" rotWithShape="1">
            <a:gsLst>
              <a:gs pos="10000">
                <a:srgbClr val="FA2481"/>
              </a:gs>
              <a:gs pos="90000">
                <a:srgbClr val="42B3BD"/>
              </a:gs>
              <a:gs pos="70000">
                <a:srgbClr val="51B851"/>
              </a:gs>
              <a:gs pos="30000">
                <a:srgbClr val="F58505"/>
              </a:gs>
              <a:gs pos="50000">
                <a:srgbClr val="B5A603">
                  <a:lumMod val="60000"/>
                  <a:lumOff val="40000"/>
                </a:srgbClr>
              </a:gs>
            </a:gsLst>
            <a:lin ang="7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894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son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800586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0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0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0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0" y="100270"/>
            <a:ext cx="10511691" cy="84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Lesson outline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32F588-7F4C-503A-4BEC-84340EBE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41774"/>
            <a:ext cx="12192000" cy="66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5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1302040"/>
            <a:ext cx="11280200" cy="4920960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0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2000"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0" y="100270"/>
            <a:ext cx="10511691" cy="84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7830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ner Bub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11F500-35CB-04FF-9423-12B251F431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649456-21F3-E6B2-92ED-CE7FB97EE3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488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0" y="100270"/>
            <a:ext cx="10511691" cy="84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5900" y="1302041"/>
            <a:ext cx="11280200" cy="4481345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9621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2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674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06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11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rm Defin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A8160BDD-7155-D744-B749-9730458604AD}" type="slidenum">
              <a:rPr lang="en-US" smtClean="0"/>
              <a:pPr defTabSz="457200"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5900" y="2209800"/>
            <a:ext cx="11280200" cy="401320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baseline="0"/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baseline="0"/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lvl3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342900" marR="0" lvl="2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5900" y="100270"/>
            <a:ext cx="10511691" cy="844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B19520-E82C-4B3B-A166-692B3551D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6800" y="1259979"/>
            <a:ext cx="9245600" cy="762000"/>
          </a:xfr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b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None/>
              <a:defRPr lang="en-US" sz="1800" kern="1200" dirty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Term definition.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DBA1E-C693-5DEA-3787-BC05E4DAFE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" y="944881"/>
            <a:ext cx="1717316" cy="11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99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87972A-145E-3161-D567-9E801319DEB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94488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900" y="100270"/>
            <a:ext cx="10511691" cy="84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899" y="1307130"/>
            <a:ext cx="11280203" cy="4715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94112" y="644547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C4C4C4"/>
                </a:solidFill>
                <a:latin typeface="Arial"/>
                <a:cs typeface="Arial"/>
              </a:defRPr>
            </a:lvl1pPr>
          </a:lstStyle>
          <a:p>
            <a:fld id="{A8160BDD-7155-D744-B749-9730458604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858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0" r:id="rId2"/>
    <p:sldLayoutId id="2147483741" r:id="rId3"/>
    <p:sldLayoutId id="2147483742" r:id="rId4"/>
    <p:sldLayoutId id="2147483723" r:id="rId5"/>
    <p:sldLayoutId id="2147483724" r:id="rId6"/>
    <p:sldLayoutId id="2147483726" r:id="rId7"/>
    <p:sldLayoutId id="2147483727" r:id="rId8"/>
    <p:sldLayoutId id="2147483729" r:id="rId9"/>
    <p:sldLayoutId id="2147483733" r:id="rId10"/>
    <p:sldLayoutId id="2147483734" r:id="rId11"/>
    <p:sldLayoutId id="2147483739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kern="1200">
          <a:solidFill>
            <a:schemeClr val="bg1"/>
          </a:solidFill>
          <a:latin typeface="+mj-lt"/>
          <a:ea typeface="+mj-ea"/>
          <a:cs typeface="Aharoni" panose="02010803020104030203" pitchFamily="2" charset="-79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learn.microsoft.com/en-us/training/modules/get-started-with-power-bi/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hyperlink" Target="https://www.microsoft.com/en-us/power-platform/products/power-bi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ower-bi/connect-data/service-get-dat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hyperlink" Target="https://learn.microsoft.com/en-us/power-bi/connect-data/desktop-data-source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powerbi.com/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o.microsoft.com/fwlink/?LinkId=2240819&amp;clcid=0x409&amp;culture=en-us&amp;country=u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hyperlink" Target="https://learn.microsoft.com/en-us/power-bi/fundamentals/desktop-getting-started" TargetMode="External"/><Relationship Id="rId4" Type="http://schemas.openxmlformats.org/officeDocument/2006/relationships/hyperlink" Target="https://www.microsoft.com/en-us/download/details.aspx?id=58494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app.powerbi.com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power-platform/products/power-bi/pric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hyperlink" Target="https://www.brainyquote.com/authors/winston-churchill-quot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00755-07A0-E3A0-D28B-9CC42F379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Power BI?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887C-5C3C-AB00-CD9E-63A91BBF7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5F262-2142-7A25-608E-88085A9E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4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6D808570-9C68-55D5-DD36-94E57F89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8160BDD-7155-D744-B749-9730458604A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A286F-F2F4-AFB8-D483-CA7D1BA45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At its heart, MS Power BI is a data visualization tool.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494C6-F176-D579-3AF0-00DD2CC8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What is Microsoft Power BI? - </a:t>
            </a:r>
            <a:r>
              <a:rPr lang="en-US" dirty="0">
                <a:hlinkClick r:id="rId3"/>
              </a:rPr>
              <a:t>Link</a:t>
            </a:r>
            <a:endParaRPr lang="en-US" dirty="0"/>
          </a:p>
        </p:txBody>
      </p:sp>
      <p:pic>
        <p:nvPicPr>
          <p:cNvPr id="33" name="Picture 2" descr="Image result for power bi logo">
            <a:extLst>
              <a:ext uri="{FF2B5EF4-FFF2-40B4-BE49-F238E27FC236}">
                <a16:creationId xmlns:a16="http://schemas.microsoft.com/office/drawing/2014/main" id="{47504C9D-45DA-731F-92AE-468491CB9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37863" y="1199246"/>
            <a:ext cx="2317287" cy="2317287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41" name="Picture 40">
            <a:hlinkClick r:id="rId5"/>
            <a:extLst>
              <a:ext uri="{FF2B5EF4-FFF2-40B4-BE49-F238E27FC236}">
                <a16:creationId xmlns:a16="http://schemas.microsoft.com/office/drawing/2014/main" id="{4E60A569-F0FC-C8E2-180C-625DFD6D17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5177"/>
          <a:stretch>
            <a:fillRect/>
          </a:stretch>
        </p:blipFill>
        <p:spPr>
          <a:xfrm>
            <a:off x="650914" y="1919383"/>
            <a:ext cx="6311969" cy="87701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4528139-469F-5B4D-713A-CD5DC0D4091A}"/>
              </a:ext>
            </a:extLst>
          </p:cNvPr>
          <p:cNvGrpSpPr/>
          <p:nvPr/>
        </p:nvGrpSpPr>
        <p:grpSpPr>
          <a:xfrm>
            <a:off x="8673316" y="3957813"/>
            <a:ext cx="2046380" cy="2046380"/>
            <a:chOff x="8844217" y="3699252"/>
            <a:chExt cx="2317287" cy="231728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E60BCA5C-F789-A46E-2903-11D10E8FA7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7528" y="4858437"/>
              <a:ext cx="440240" cy="44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A red heart with black letters&#10;&#10;AI-generated content may be incorrect.">
              <a:extLst>
                <a:ext uri="{FF2B5EF4-FFF2-40B4-BE49-F238E27FC236}">
                  <a16:creationId xmlns:a16="http://schemas.microsoft.com/office/drawing/2014/main" id="{E2A49BF3-4E00-709D-70FE-CDFE32F7B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5071"/>
            <a:stretch>
              <a:fillRect/>
            </a:stretch>
          </p:blipFill>
          <p:spPr>
            <a:xfrm>
              <a:off x="9626600" y="4271695"/>
              <a:ext cx="784202" cy="530663"/>
            </a:xfrm>
            <a:prstGeom prst="rect">
              <a:avLst/>
            </a:prstGeom>
          </p:spPr>
        </p:pic>
        <p:pic>
          <p:nvPicPr>
            <p:cNvPr id="7" name="Graphic 6" descr="Shirt outline">
              <a:extLst>
                <a:ext uri="{FF2B5EF4-FFF2-40B4-BE49-F238E27FC236}">
                  <a16:creationId xmlns:a16="http://schemas.microsoft.com/office/drawing/2014/main" id="{0AAC0611-DD76-A8F4-A177-F4BE22A824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844217" y="3699252"/>
              <a:ext cx="2317287" cy="2317287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CA979CC-CB0E-6C74-AB00-A98CCAD13EA3}"/>
              </a:ext>
            </a:extLst>
          </p:cNvPr>
          <p:cNvSpPr txBox="1"/>
          <p:nvPr/>
        </p:nvSpPr>
        <p:spPr>
          <a:xfrm>
            <a:off x="650914" y="3076108"/>
            <a:ext cx="7051912" cy="40011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/>
              <a:t>The goal is to create visual reports that can analyze complex data.</a:t>
            </a:r>
          </a:p>
        </p:txBody>
      </p:sp>
    </p:spTree>
    <p:extLst>
      <p:ext uri="{BB962C8B-B14F-4D97-AF65-F5344CB8AC3E}">
        <p14:creationId xmlns:p14="http://schemas.microsoft.com/office/powerpoint/2010/main" val="29061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13A58-1981-494E-B32F-39185AEFB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56776BE-14FA-1981-063B-E3B97775B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57" y="944881"/>
            <a:ext cx="9383434" cy="538237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833D5BD-98AD-48EC-CAF3-E92BEE3C8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555156-77EE-F021-5FDC-7D91CF96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1CE89EA2-9DDA-D5DA-0531-0F2884C76CA8}"/>
              </a:ext>
            </a:extLst>
          </p:cNvPr>
          <p:cNvSpPr/>
          <p:nvPr/>
        </p:nvSpPr>
        <p:spPr>
          <a:xfrm>
            <a:off x="9982201" y="5118201"/>
            <a:ext cx="2094182" cy="710156"/>
          </a:xfrm>
          <a:prstGeom prst="roundRect">
            <a:avLst/>
          </a:prstGeom>
          <a:solidFill>
            <a:srgbClr val="009DDC"/>
          </a:solidFill>
          <a:ln w="25400" cap="flat" cmpd="sng" algn="ctr">
            <a:noFill/>
            <a:prstDash val="solid"/>
          </a:ln>
          <a:effectLst>
            <a:outerShdw blurRad="38100" dist="25400" dir="2700000" sx="99000" sy="99000" algn="tl" rotWithShape="0">
              <a:prstClr val="black">
                <a:alpha val="75000"/>
              </a:prstClr>
            </a:outerShdw>
          </a:effectLst>
        </p:spPr>
        <p:txBody>
          <a:bodyPr anchor="ctr"/>
          <a:lstStyle/>
          <a:p>
            <a:pPr algn="ctr" defTabSz="914400">
              <a:defRPr/>
            </a:pPr>
            <a:r>
              <a:rPr lang="en-US" sz="2000" b="1" kern="0" dirty="0">
                <a:solidFill>
                  <a:srgbClr val="FFFFFF"/>
                </a:solidFill>
                <a:latin typeface="Calibri"/>
                <a:cs typeface="Calibri"/>
              </a:rPr>
              <a:t>Tree map/Slicers</a:t>
            </a: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ED125D15-9C10-AA92-2A5C-F179B481361D}"/>
              </a:ext>
            </a:extLst>
          </p:cNvPr>
          <p:cNvSpPr/>
          <p:nvPr/>
        </p:nvSpPr>
        <p:spPr>
          <a:xfrm>
            <a:off x="730121" y="2280381"/>
            <a:ext cx="1015155" cy="485219"/>
          </a:xfrm>
          <a:prstGeom prst="roundRect">
            <a:avLst/>
          </a:prstGeom>
          <a:solidFill>
            <a:srgbClr val="009DDC"/>
          </a:solidFill>
          <a:ln w="25400" cap="flat" cmpd="sng" algn="ctr">
            <a:noFill/>
            <a:prstDash val="solid"/>
          </a:ln>
          <a:effectLst>
            <a:outerShdw blurRad="38100" dist="25400" dir="2700000" sx="99000" sy="99000" algn="tl" rotWithShape="0">
              <a:prstClr val="black">
                <a:alpha val="75000"/>
              </a:prstClr>
            </a:outerShdw>
          </a:effectLst>
        </p:spPr>
        <p:txBody>
          <a:bodyPr anchor="ctr"/>
          <a:lstStyle/>
          <a:p>
            <a:pPr algn="ctr" defTabSz="914400">
              <a:defRPr/>
            </a:pPr>
            <a:r>
              <a:rPr lang="en-US" sz="2000" b="1" kern="0" dirty="0">
                <a:solidFill>
                  <a:srgbClr val="FFFFFF"/>
                </a:solidFill>
                <a:latin typeface="Calibri"/>
                <a:cs typeface="Calibri"/>
              </a:rPr>
              <a:t>Map</a:t>
            </a: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10D93224-E370-5E8B-77B5-96A8227E2ADE}"/>
              </a:ext>
            </a:extLst>
          </p:cNvPr>
          <p:cNvSpPr/>
          <p:nvPr/>
        </p:nvSpPr>
        <p:spPr>
          <a:xfrm>
            <a:off x="730120" y="5811085"/>
            <a:ext cx="1015155" cy="485219"/>
          </a:xfrm>
          <a:prstGeom prst="roundRect">
            <a:avLst/>
          </a:prstGeom>
          <a:solidFill>
            <a:srgbClr val="009DDC"/>
          </a:solidFill>
          <a:ln w="25400" cap="flat" cmpd="sng" algn="ctr">
            <a:noFill/>
            <a:prstDash val="solid"/>
          </a:ln>
          <a:effectLst>
            <a:outerShdw blurRad="38100" dist="25400" dir="2700000" sx="99000" sy="99000" algn="tl" rotWithShape="0">
              <a:prstClr val="black">
                <a:alpha val="75000"/>
              </a:prstClr>
            </a:outerShdw>
          </a:effectLst>
        </p:spPr>
        <p:txBody>
          <a:bodyPr anchor="ctr"/>
          <a:lstStyle/>
          <a:p>
            <a:pPr algn="ctr" defTabSz="914400">
              <a:defRPr/>
            </a:pPr>
            <a:r>
              <a:rPr lang="en-US" sz="2000" b="1" kern="0" dirty="0">
                <a:solidFill>
                  <a:srgbClr val="FFFFFF"/>
                </a:solidFill>
                <a:latin typeface="Calibri"/>
                <a:cs typeface="Calibri"/>
              </a:rPr>
              <a:t>Chart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22D32734-86B5-7D63-1E7F-A99EE566EE82}"/>
              </a:ext>
            </a:extLst>
          </p:cNvPr>
          <p:cNvSpPr/>
          <p:nvPr/>
        </p:nvSpPr>
        <p:spPr>
          <a:xfrm>
            <a:off x="5866750" y="6053694"/>
            <a:ext cx="1015155" cy="485219"/>
          </a:xfrm>
          <a:prstGeom prst="roundRect">
            <a:avLst/>
          </a:prstGeom>
          <a:solidFill>
            <a:srgbClr val="009DDC"/>
          </a:solidFill>
          <a:ln w="25400" cap="flat" cmpd="sng" algn="ctr">
            <a:noFill/>
            <a:prstDash val="solid"/>
          </a:ln>
          <a:effectLst>
            <a:outerShdw blurRad="38100" dist="25400" dir="2700000" sx="99000" sy="99000" algn="tl" rotWithShape="0">
              <a:prstClr val="black">
                <a:alpha val="75000"/>
              </a:prstClr>
            </a:outerShdw>
          </a:effectLst>
        </p:spPr>
        <p:txBody>
          <a:bodyPr anchor="ctr"/>
          <a:lstStyle/>
          <a:p>
            <a:pPr algn="ctr" defTabSz="914400">
              <a:defRPr/>
            </a:pPr>
            <a:r>
              <a:rPr lang="en-US" sz="2000" b="1" kern="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E6AB2E3B-4716-9225-B60C-F181E949030F}"/>
              </a:ext>
            </a:extLst>
          </p:cNvPr>
          <p:cNvSpPr/>
          <p:nvPr/>
        </p:nvSpPr>
        <p:spPr>
          <a:xfrm>
            <a:off x="10300514" y="2406640"/>
            <a:ext cx="1015155" cy="485219"/>
          </a:xfrm>
          <a:prstGeom prst="roundRect">
            <a:avLst/>
          </a:prstGeom>
          <a:solidFill>
            <a:srgbClr val="009DDC"/>
          </a:solidFill>
          <a:ln w="25400" cap="flat" cmpd="sng" algn="ctr">
            <a:noFill/>
            <a:prstDash val="solid"/>
          </a:ln>
          <a:effectLst>
            <a:outerShdw blurRad="38100" dist="25400" dir="2700000" sx="99000" sy="99000" algn="tl" rotWithShape="0">
              <a:prstClr val="black">
                <a:alpha val="75000"/>
              </a:prstClr>
            </a:outerShdw>
          </a:effectLst>
        </p:spPr>
        <p:txBody>
          <a:bodyPr anchor="ctr"/>
          <a:lstStyle/>
          <a:p>
            <a:pPr algn="ctr" defTabSz="914400">
              <a:defRPr/>
            </a:pPr>
            <a:r>
              <a:rPr lang="en-US" sz="2000" b="1" kern="0" dirty="0">
                <a:solidFill>
                  <a:srgbClr val="FFFFFF"/>
                </a:solidFill>
                <a:latin typeface="Calibri"/>
                <a:cs typeface="Calibri"/>
              </a:rPr>
              <a:t>Cards</a:t>
            </a:r>
          </a:p>
        </p:txBody>
      </p:sp>
    </p:spTree>
    <p:extLst>
      <p:ext uri="{BB962C8B-B14F-4D97-AF65-F5344CB8AC3E}">
        <p14:creationId xmlns:p14="http://schemas.microsoft.com/office/powerpoint/2010/main" val="325369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5400F-73A9-E605-593F-24B50326C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of how it works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9E9B93-68EC-6219-E33B-EE5586A5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B7946EA-2D52-CD4C-32C3-3FA908BBDA6B}"/>
              </a:ext>
            </a:extLst>
          </p:cNvPr>
          <p:cNvSpPr/>
          <p:nvPr/>
        </p:nvSpPr>
        <p:spPr>
          <a:xfrm>
            <a:off x="2336304" y="5629378"/>
            <a:ext cx="7519392" cy="996765"/>
          </a:xfrm>
          <a:custGeom>
            <a:avLst/>
            <a:gdLst>
              <a:gd name="csX0" fmla="*/ 0 w 7519392"/>
              <a:gd name="csY0" fmla="*/ 0 h 996765"/>
              <a:gd name="csX1" fmla="*/ 7519392 w 7519392"/>
              <a:gd name="csY1" fmla="*/ 0 h 996765"/>
              <a:gd name="csX2" fmla="*/ 7519392 w 7519392"/>
              <a:gd name="csY2" fmla="*/ 996765 h 996765"/>
              <a:gd name="csX3" fmla="*/ 0 w 7519392"/>
              <a:gd name="csY3" fmla="*/ 996765 h 996765"/>
              <a:gd name="csX4" fmla="*/ 0 w 7519392"/>
              <a:gd name="csY4" fmla="*/ 0 h 9967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519392" h="996765">
                <a:moveTo>
                  <a:pt x="0" y="0"/>
                </a:moveTo>
                <a:lnTo>
                  <a:pt x="7519392" y="0"/>
                </a:lnTo>
                <a:lnTo>
                  <a:pt x="7519392" y="996765"/>
                </a:lnTo>
                <a:lnTo>
                  <a:pt x="0" y="996765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0688" tIns="170688" rIns="170688" bIns="170688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Upload/Share Across Company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F9244F-3B2A-5FE6-E2DC-EC5AB72CA211}"/>
              </a:ext>
            </a:extLst>
          </p:cNvPr>
          <p:cNvSpPr/>
          <p:nvPr/>
        </p:nvSpPr>
        <p:spPr>
          <a:xfrm>
            <a:off x="2336303" y="4111304"/>
            <a:ext cx="7519393" cy="1533026"/>
          </a:xfrm>
          <a:custGeom>
            <a:avLst/>
            <a:gdLst>
              <a:gd name="csX0" fmla="*/ 0 w 7519392"/>
              <a:gd name="csY0" fmla="*/ 536911 h 1533025"/>
              <a:gd name="csX1" fmla="*/ 3568068 w 7519392"/>
              <a:gd name="csY1" fmla="*/ 536911 h 1533025"/>
              <a:gd name="csX2" fmla="*/ 3568068 w 7519392"/>
              <a:gd name="csY2" fmla="*/ 383256 h 1533025"/>
              <a:gd name="csX3" fmla="*/ 3376440 w 7519392"/>
              <a:gd name="csY3" fmla="*/ 383256 h 1533025"/>
              <a:gd name="csX4" fmla="*/ 3759696 w 7519392"/>
              <a:gd name="csY4" fmla="*/ 0 h 1533025"/>
              <a:gd name="csX5" fmla="*/ 4142952 w 7519392"/>
              <a:gd name="csY5" fmla="*/ 383256 h 1533025"/>
              <a:gd name="csX6" fmla="*/ 3951324 w 7519392"/>
              <a:gd name="csY6" fmla="*/ 383256 h 1533025"/>
              <a:gd name="csX7" fmla="*/ 3951324 w 7519392"/>
              <a:gd name="csY7" fmla="*/ 536911 h 1533025"/>
              <a:gd name="csX8" fmla="*/ 7519392 w 7519392"/>
              <a:gd name="csY8" fmla="*/ 536911 h 1533025"/>
              <a:gd name="csX9" fmla="*/ 7519392 w 7519392"/>
              <a:gd name="csY9" fmla="*/ 1533025 h 1533025"/>
              <a:gd name="csX10" fmla="*/ 0 w 7519392"/>
              <a:gd name="csY10" fmla="*/ 1533025 h 1533025"/>
              <a:gd name="csX11" fmla="*/ 0 w 7519392"/>
              <a:gd name="csY11" fmla="*/ 536911 h 1533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519392" h="1533025">
                <a:moveTo>
                  <a:pt x="7519392" y="996114"/>
                </a:moveTo>
                <a:lnTo>
                  <a:pt x="3951324" y="996114"/>
                </a:lnTo>
                <a:lnTo>
                  <a:pt x="3951324" y="1149769"/>
                </a:lnTo>
                <a:lnTo>
                  <a:pt x="4142952" y="1149769"/>
                </a:lnTo>
                <a:lnTo>
                  <a:pt x="3759696" y="1533024"/>
                </a:lnTo>
                <a:lnTo>
                  <a:pt x="3376440" y="1149769"/>
                </a:lnTo>
                <a:lnTo>
                  <a:pt x="3568068" y="1149769"/>
                </a:lnTo>
                <a:lnTo>
                  <a:pt x="3568068" y="996114"/>
                </a:lnTo>
                <a:lnTo>
                  <a:pt x="0" y="996114"/>
                </a:lnTo>
                <a:lnTo>
                  <a:pt x="0" y="1"/>
                </a:lnTo>
                <a:lnTo>
                  <a:pt x="7519392" y="1"/>
                </a:lnTo>
                <a:lnTo>
                  <a:pt x="7519392" y="996114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0689" tIns="170688" rIns="170688" bIns="1165623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Analyze the data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9473019-FC9D-788C-907F-73FDE7819DE4}"/>
              </a:ext>
            </a:extLst>
          </p:cNvPr>
          <p:cNvSpPr/>
          <p:nvPr/>
        </p:nvSpPr>
        <p:spPr>
          <a:xfrm>
            <a:off x="2336304" y="4649396"/>
            <a:ext cx="3759696" cy="458374"/>
          </a:xfrm>
          <a:custGeom>
            <a:avLst/>
            <a:gdLst>
              <a:gd name="csX0" fmla="*/ 0 w 3759696"/>
              <a:gd name="csY0" fmla="*/ 0 h 458374"/>
              <a:gd name="csX1" fmla="*/ 3759696 w 3759696"/>
              <a:gd name="csY1" fmla="*/ 0 h 458374"/>
              <a:gd name="csX2" fmla="*/ 3759696 w 3759696"/>
              <a:gd name="csY2" fmla="*/ 458374 h 458374"/>
              <a:gd name="csX3" fmla="*/ 0 w 3759696"/>
              <a:gd name="csY3" fmla="*/ 458374 h 458374"/>
              <a:gd name="csX4" fmla="*/ 0 w 3759696"/>
              <a:gd name="csY4" fmla="*/ 0 h 458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59696" h="458374">
                <a:moveTo>
                  <a:pt x="0" y="0"/>
                </a:moveTo>
                <a:lnTo>
                  <a:pt x="3759696" y="0"/>
                </a:lnTo>
                <a:lnTo>
                  <a:pt x="3759696" y="458374"/>
                </a:lnTo>
                <a:lnTo>
                  <a:pt x="0" y="458374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300000" contourW="19050" prstMaterial="metal">
            <a:bevelT w="88900" h="203200"/>
            <a:bevelB w="165100" h="254000"/>
          </a:sp3d>
        </p:spPr>
        <p:style>
          <a:lnRef idx="0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20320" rIns="113792" bIns="2032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 dirty="0"/>
              <a:t>Create tables/matrixes/columns/measures to answer business questions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97662FF-FC1A-A161-BF40-788021A73E1D}"/>
              </a:ext>
            </a:extLst>
          </p:cNvPr>
          <p:cNvSpPr/>
          <p:nvPr/>
        </p:nvSpPr>
        <p:spPr>
          <a:xfrm>
            <a:off x="6096000" y="4649396"/>
            <a:ext cx="3759696" cy="458374"/>
          </a:xfrm>
          <a:custGeom>
            <a:avLst/>
            <a:gdLst>
              <a:gd name="csX0" fmla="*/ 0 w 3759696"/>
              <a:gd name="csY0" fmla="*/ 0 h 458374"/>
              <a:gd name="csX1" fmla="*/ 3759696 w 3759696"/>
              <a:gd name="csY1" fmla="*/ 0 h 458374"/>
              <a:gd name="csX2" fmla="*/ 3759696 w 3759696"/>
              <a:gd name="csY2" fmla="*/ 458374 h 458374"/>
              <a:gd name="csX3" fmla="*/ 0 w 3759696"/>
              <a:gd name="csY3" fmla="*/ 458374 h 458374"/>
              <a:gd name="csX4" fmla="*/ 0 w 3759696"/>
              <a:gd name="csY4" fmla="*/ 0 h 458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59696" h="458374">
                <a:moveTo>
                  <a:pt x="0" y="0"/>
                </a:moveTo>
                <a:lnTo>
                  <a:pt x="3759696" y="0"/>
                </a:lnTo>
                <a:lnTo>
                  <a:pt x="3759696" y="458374"/>
                </a:lnTo>
                <a:lnTo>
                  <a:pt x="0" y="458374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300000" contourW="19050" prstMaterial="metal">
            <a:bevelT w="88900" h="203200"/>
            <a:bevelB w="165100" h="254000"/>
          </a:sp3d>
        </p:spPr>
        <p:style>
          <a:lnRef idx="0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20320" rIns="113792" bIns="2032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 dirty="0"/>
              <a:t>Create visualizations &amp; reports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F61352D-8235-05FF-A837-44D79DE40B54}"/>
              </a:ext>
            </a:extLst>
          </p:cNvPr>
          <p:cNvSpPr/>
          <p:nvPr/>
        </p:nvSpPr>
        <p:spPr>
          <a:xfrm>
            <a:off x="2336304" y="2593229"/>
            <a:ext cx="7519392" cy="1533026"/>
          </a:xfrm>
          <a:custGeom>
            <a:avLst/>
            <a:gdLst>
              <a:gd name="csX0" fmla="*/ 0 w 7519392"/>
              <a:gd name="csY0" fmla="*/ 536911 h 1533025"/>
              <a:gd name="csX1" fmla="*/ 3568068 w 7519392"/>
              <a:gd name="csY1" fmla="*/ 536911 h 1533025"/>
              <a:gd name="csX2" fmla="*/ 3568068 w 7519392"/>
              <a:gd name="csY2" fmla="*/ 383256 h 1533025"/>
              <a:gd name="csX3" fmla="*/ 3376440 w 7519392"/>
              <a:gd name="csY3" fmla="*/ 383256 h 1533025"/>
              <a:gd name="csX4" fmla="*/ 3759696 w 7519392"/>
              <a:gd name="csY4" fmla="*/ 0 h 1533025"/>
              <a:gd name="csX5" fmla="*/ 4142952 w 7519392"/>
              <a:gd name="csY5" fmla="*/ 383256 h 1533025"/>
              <a:gd name="csX6" fmla="*/ 3951324 w 7519392"/>
              <a:gd name="csY6" fmla="*/ 383256 h 1533025"/>
              <a:gd name="csX7" fmla="*/ 3951324 w 7519392"/>
              <a:gd name="csY7" fmla="*/ 536911 h 1533025"/>
              <a:gd name="csX8" fmla="*/ 7519392 w 7519392"/>
              <a:gd name="csY8" fmla="*/ 536911 h 1533025"/>
              <a:gd name="csX9" fmla="*/ 7519392 w 7519392"/>
              <a:gd name="csY9" fmla="*/ 1533025 h 1533025"/>
              <a:gd name="csX10" fmla="*/ 0 w 7519392"/>
              <a:gd name="csY10" fmla="*/ 1533025 h 1533025"/>
              <a:gd name="csX11" fmla="*/ 0 w 7519392"/>
              <a:gd name="csY11" fmla="*/ 536911 h 1533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519392" h="1533025">
                <a:moveTo>
                  <a:pt x="7519392" y="996114"/>
                </a:moveTo>
                <a:lnTo>
                  <a:pt x="3951324" y="996114"/>
                </a:lnTo>
                <a:lnTo>
                  <a:pt x="3951324" y="1149769"/>
                </a:lnTo>
                <a:lnTo>
                  <a:pt x="4142952" y="1149769"/>
                </a:lnTo>
                <a:lnTo>
                  <a:pt x="3759696" y="1533024"/>
                </a:lnTo>
                <a:lnTo>
                  <a:pt x="3376440" y="1149769"/>
                </a:lnTo>
                <a:lnTo>
                  <a:pt x="3568068" y="1149769"/>
                </a:lnTo>
                <a:lnTo>
                  <a:pt x="3568068" y="996114"/>
                </a:lnTo>
                <a:lnTo>
                  <a:pt x="0" y="996114"/>
                </a:lnTo>
                <a:lnTo>
                  <a:pt x="0" y="1"/>
                </a:lnTo>
                <a:lnTo>
                  <a:pt x="7519392" y="1"/>
                </a:lnTo>
                <a:lnTo>
                  <a:pt x="7519392" y="996114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0687" tIns="170689" rIns="170688" bIns="707599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[If Needed] Transform the data via Power Query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308750-9C2D-6EF2-4B04-FB1C06E962CD}"/>
              </a:ext>
            </a:extLst>
          </p:cNvPr>
          <p:cNvSpPr/>
          <p:nvPr/>
        </p:nvSpPr>
        <p:spPr>
          <a:xfrm>
            <a:off x="2336304" y="1075155"/>
            <a:ext cx="7519392" cy="1533027"/>
          </a:xfrm>
          <a:custGeom>
            <a:avLst/>
            <a:gdLst>
              <a:gd name="csX0" fmla="*/ 0 w 7519392"/>
              <a:gd name="csY0" fmla="*/ 536911 h 1533025"/>
              <a:gd name="csX1" fmla="*/ 3568068 w 7519392"/>
              <a:gd name="csY1" fmla="*/ 536911 h 1533025"/>
              <a:gd name="csX2" fmla="*/ 3568068 w 7519392"/>
              <a:gd name="csY2" fmla="*/ 383256 h 1533025"/>
              <a:gd name="csX3" fmla="*/ 3376440 w 7519392"/>
              <a:gd name="csY3" fmla="*/ 383256 h 1533025"/>
              <a:gd name="csX4" fmla="*/ 3759696 w 7519392"/>
              <a:gd name="csY4" fmla="*/ 0 h 1533025"/>
              <a:gd name="csX5" fmla="*/ 4142952 w 7519392"/>
              <a:gd name="csY5" fmla="*/ 383256 h 1533025"/>
              <a:gd name="csX6" fmla="*/ 3951324 w 7519392"/>
              <a:gd name="csY6" fmla="*/ 383256 h 1533025"/>
              <a:gd name="csX7" fmla="*/ 3951324 w 7519392"/>
              <a:gd name="csY7" fmla="*/ 536911 h 1533025"/>
              <a:gd name="csX8" fmla="*/ 7519392 w 7519392"/>
              <a:gd name="csY8" fmla="*/ 536911 h 1533025"/>
              <a:gd name="csX9" fmla="*/ 7519392 w 7519392"/>
              <a:gd name="csY9" fmla="*/ 1533025 h 1533025"/>
              <a:gd name="csX10" fmla="*/ 0 w 7519392"/>
              <a:gd name="csY10" fmla="*/ 1533025 h 1533025"/>
              <a:gd name="csX11" fmla="*/ 0 w 7519392"/>
              <a:gd name="csY11" fmla="*/ 536911 h 1533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519392" h="1533025">
                <a:moveTo>
                  <a:pt x="7519392" y="996114"/>
                </a:moveTo>
                <a:lnTo>
                  <a:pt x="3951324" y="996114"/>
                </a:lnTo>
                <a:lnTo>
                  <a:pt x="3951324" y="1149769"/>
                </a:lnTo>
                <a:lnTo>
                  <a:pt x="4142952" y="1149769"/>
                </a:lnTo>
                <a:lnTo>
                  <a:pt x="3759696" y="1533024"/>
                </a:lnTo>
                <a:lnTo>
                  <a:pt x="3376440" y="1149769"/>
                </a:lnTo>
                <a:lnTo>
                  <a:pt x="3568068" y="1149769"/>
                </a:lnTo>
                <a:lnTo>
                  <a:pt x="3568068" y="996114"/>
                </a:lnTo>
                <a:lnTo>
                  <a:pt x="0" y="996114"/>
                </a:lnTo>
                <a:lnTo>
                  <a:pt x="0" y="1"/>
                </a:lnTo>
                <a:lnTo>
                  <a:pt x="7519392" y="1"/>
                </a:lnTo>
                <a:lnTo>
                  <a:pt x="7519392" y="996114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0687" tIns="170689" rIns="170688" bIns="70760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Connect/Import from a data source</a:t>
            </a:r>
          </a:p>
        </p:txBody>
      </p:sp>
    </p:spTree>
    <p:extLst>
      <p:ext uri="{BB962C8B-B14F-4D97-AF65-F5344CB8AC3E}">
        <p14:creationId xmlns:p14="http://schemas.microsoft.com/office/powerpoint/2010/main" val="225883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1836189E-8D90-6877-4C62-4ADEC7A07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fontAlgn="base">
              <a:spcBef>
                <a:spcPts val="600"/>
              </a:spcBef>
              <a:spcAft>
                <a:spcPts val="600"/>
              </a:spcAft>
              <a:buClrTx/>
              <a:buNone/>
              <a:defRPr/>
            </a:pPr>
            <a:r>
              <a:rPr lang="en-US" sz="2000" dirty="0"/>
              <a:t>In Power BI, data can be pulled from a database or an online portal. </a:t>
            </a:r>
          </a:p>
          <a:p>
            <a:pPr marL="0" lvl="0" indent="0" defTabSz="914400" fontAlgn="base">
              <a:spcBef>
                <a:spcPts val="600"/>
              </a:spcBef>
              <a:spcAft>
                <a:spcPts val="600"/>
              </a:spcAft>
              <a:buClrTx/>
              <a:buNone/>
              <a:defRPr/>
            </a:pPr>
            <a:r>
              <a:rPr lang="en-US" sz="2000" dirty="0"/>
              <a:t>According to this </a:t>
            </a:r>
            <a:r>
              <a:rPr lang="en-US" sz="2000" dirty="0">
                <a:hlinkClick r:id="rId3"/>
              </a:rPr>
              <a:t>article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"You can use hundreds of different data sources with Power BI. </a:t>
            </a:r>
            <a:br>
              <a:rPr lang="en-US" sz="2000" dirty="0"/>
            </a:br>
            <a:r>
              <a:rPr lang="en-US" sz="2000" dirty="0"/>
              <a:t>The data must be in a format consumable by the Power BI service."</a:t>
            </a:r>
          </a:p>
          <a:p>
            <a:pPr marL="342900" lvl="0" indent="-342900" defTabSz="914400" fontAlgn="base">
              <a:spcBef>
                <a:spcPts val="600"/>
              </a:spcBef>
              <a:spcAft>
                <a:spcPts val="600"/>
              </a:spcAft>
              <a:buClrTx/>
              <a:buFont typeface="Symbol" panose="05050102010706020507" pitchFamily="18" charset="2"/>
              <a:buChar char=""/>
              <a:defRPr/>
            </a:pPr>
            <a:endParaRPr lang="en-US" sz="2000" b="1" dirty="0"/>
          </a:p>
        </p:txBody>
      </p:sp>
      <p:sp>
        <p:nvSpPr>
          <p:cNvPr id="72" name="Title 71">
            <a:extLst>
              <a:ext uri="{FF2B5EF4-FFF2-40B4-BE49-F238E27FC236}">
                <a16:creationId xmlns:a16="http://schemas.microsoft.com/office/drawing/2014/main" id="{586F9136-CE68-3B5B-5725-7E90CDC8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Connecting to Data Sources in Power BI - </a:t>
            </a:r>
            <a:r>
              <a:rPr lang="en-AU" dirty="0">
                <a:hlinkClick r:id="rId4"/>
              </a:rPr>
              <a:t>Link</a:t>
            </a:r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02CA332-BD80-67D0-1253-186E6CB86803}"/>
              </a:ext>
            </a:extLst>
          </p:cNvPr>
          <p:cNvSpPr txBox="1"/>
          <p:nvPr/>
        </p:nvSpPr>
        <p:spPr>
          <a:xfrm>
            <a:off x="455900" y="4632630"/>
            <a:ext cx="8328871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fontAlgn="base"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US" sz="2400" b="1" dirty="0"/>
              <a:t>Other data sources can include:</a:t>
            </a:r>
            <a:r>
              <a:rPr lang="en-US" sz="2400" dirty="0"/>
              <a:t> </a:t>
            </a:r>
          </a:p>
          <a:p>
            <a:pPr marL="455612" lvl="1" fontAlgn="base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000" dirty="0"/>
              <a:t>- Files (e.g. Text, CSV, Excel, Power BI Desktop files).</a:t>
            </a:r>
          </a:p>
          <a:p>
            <a:pPr marL="455612" lvl="1" indent="0" defTabSz="914400" fontAlgn="base">
              <a:spcBef>
                <a:spcPts val="600"/>
              </a:spcBef>
              <a:spcAft>
                <a:spcPts val="600"/>
              </a:spcAft>
              <a:buClrTx/>
              <a:buNone/>
              <a:defRPr/>
            </a:pPr>
            <a:r>
              <a:rPr lang="en-US" sz="2000" dirty="0"/>
              <a:t>- SaaS Cloud solutions (e.g., Salesforce, Google Analytics, Marketo, etc.) </a:t>
            </a:r>
          </a:p>
          <a:p>
            <a:pPr marL="455612" lvl="1" defTabSz="914400" fontAlgn="base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000" dirty="0"/>
              <a:t>- Internal organizational and/or external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0BF5C4-FB12-E390-7A6A-6187CE3AD4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00" y="2974784"/>
            <a:ext cx="7445721" cy="15754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640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0D803-0575-10EA-C768-6E6174224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Slide Number Placeholder 2">
            <a:extLst>
              <a:ext uri="{FF2B5EF4-FFF2-40B4-BE49-F238E27FC236}">
                <a16:creationId xmlns:a16="http://schemas.microsoft.com/office/drawing/2014/main" id="{E683F503-C682-288D-7776-F93E3336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8160BDD-7155-D744-B749-9730458604AD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2A5924A1-184D-4F32-36A0-349AA730C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00" y="1302040"/>
            <a:ext cx="6974512" cy="4920960"/>
          </a:xfrm>
        </p:spPr>
        <p:txBody>
          <a:bodyPr>
            <a:normAutofit lnSpcReduction="10000"/>
          </a:bodyPr>
          <a:lstStyle/>
          <a:p>
            <a:pPr marL="0" lvl="0" indent="0" defTabSz="914400" fontAlgn="base">
              <a:spcBef>
                <a:spcPts val="600"/>
              </a:spcBef>
              <a:spcAft>
                <a:spcPts val="600"/>
              </a:spcAft>
              <a:buClrTx/>
              <a:buNone/>
              <a:defRPr/>
            </a:pPr>
            <a:r>
              <a:rPr lang="en-US" sz="2000" dirty="0"/>
              <a:t>The main priority is whether the imported data is ‘clean’, </a:t>
            </a:r>
            <a:br>
              <a:rPr lang="en-US" sz="2000" dirty="0"/>
            </a:br>
            <a:r>
              <a:rPr lang="en-US" sz="2000" dirty="0"/>
              <a:t>not where it comes from. </a:t>
            </a:r>
            <a:br>
              <a:rPr lang="en-US" sz="2000" dirty="0"/>
            </a:br>
            <a:endParaRPr lang="en-US" sz="2000" dirty="0"/>
          </a:p>
          <a:p>
            <a:pPr marL="0" lvl="0" indent="0" defTabSz="914400" fontAlgn="base">
              <a:spcBef>
                <a:spcPts val="600"/>
              </a:spcBef>
              <a:spcAft>
                <a:spcPts val="600"/>
              </a:spcAft>
              <a:buClrTx/>
              <a:buNone/>
              <a:defRPr/>
            </a:pPr>
            <a:r>
              <a:rPr lang="en-US" sz="2000" b="1" dirty="0"/>
              <a:t>Make sure that imported data is:</a:t>
            </a:r>
            <a:r>
              <a:rPr lang="en-US" sz="2000" dirty="0"/>
              <a:t> </a:t>
            </a:r>
          </a:p>
          <a:p>
            <a:pPr marL="800100" lvl="1" indent="-342900" defTabSz="914400" fontAlgn="base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defRPr/>
            </a:pPr>
            <a:r>
              <a:rPr lang="en-US" sz="2000" dirty="0"/>
              <a:t>Complete - No crucial missing info/data</a:t>
            </a:r>
          </a:p>
          <a:p>
            <a:pPr marL="800100" lvl="1" indent="-342900" defTabSz="914400" fontAlgn="base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defRPr/>
            </a:pPr>
            <a:r>
              <a:rPr lang="en-US" sz="2000" dirty="0"/>
              <a:t>Structured -</a:t>
            </a:r>
          </a:p>
          <a:p>
            <a:pPr marL="1257300" lvl="2" indent="-342900" defTabSz="914400" fontAlgn="base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defRPr/>
            </a:pPr>
            <a:r>
              <a:rPr lang="en-US" sz="2000" dirty="0"/>
              <a:t>Columns have clear names and a consistent, </a:t>
            </a:r>
            <a:br>
              <a:rPr lang="en-US" sz="2000" dirty="0"/>
            </a:br>
            <a:r>
              <a:rPr lang="en-US" sz="2000" dirty="0"/>
              <a:t>uniform format e.g. only names should appear in a ‘First Name’ column.</a:t>
            </a:r>
          </a:p>
          <a:p>
            <a:pPr marL="800100" lvl="1" indent="-342900" defTabSz="914400" fontAlgn="base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defRPr/>
            </a:pPr>
            <a:r>
              <a:rPr lang="en-US" sz="2000" dirty="0"/>
              <a:t>Correct -	No errors/wrong values/typos/duplicates</a:t>
            </a:r>
          </a:p>
          <a:p>
            <a:pPr marL="457200" lvl="1" indent="0" defTabSz="914400" fontAlgn="base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sz="2000" dirty="0"/>
          </a:p>
          <a:p>
            <a:pPr marL="457200" lvl="1" indent="0" defTabSz="914400" fontAlgn="base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sz="2000" dirty="0"/>
              <a:t>Final Note: It’s assumed that imported data </a:t>
            </a:r>
            <a:r>
              <a:rPr lang="en-US" sz="2000" b="1" u="sng" dirty="0"/>
              <a:t>IS</a:t>
            </a:r>
            <a:r>
              <a:rPr lang="en-US" sz="2000" dirty="0"/>
              <a:t> ready for analysis.</a:t>
            </a:r>
          </a:p>
        </p:txBody>
      </p:sp>
      <p:sp>
        <p:nvSpPr>
          <p:cNvPr id="72" name="Title 71">
            <a:extLst>
              <a:ext uri="{FF2B5EF4-FFF2-40B4-BE49-F238E27FC236}">
                <a16:creationId xmlns:a16="http://schemas.microsoft.com/office/drawing/2014/main" id="{69B0F98C-8FA3-5C8D-9755-3DC35DFA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Prioritize </a:t>
            </a:r>
            <a:r>
              <a:rPr lang="en-US" u="sng" dirty="0"/>
              <a:t>Data Quality</a:t>
            </a:r>
            <a:r>
              <a:rPr lang="en-US" dirty="0"/>
              <a:t> Over </a:t>
            </a:r>
            <a:r>
              <a:rPr lang="en-US" strike="sngStrike" dirty="0"/>
              <a:t>Data 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B73C5-0290-01FE-CFDB-BA88DBC9D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688" y="1169827"/>
            <a:ext cx="4735224" cy="374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93F4F-D53A-6D2E-79E5-80346B1F9BC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55900" y="3144838"/>
            <a:ext cx="5044788" cy="3175000"/>
          </a:xfrm>
        </p:spPr>
        <p:txBody>
          <a:bodyPr/>
          <a:lstStyle/>
          <a:p>
            <a:r>
              <a:rPr lang="en-US" sz="2000" dirty="0"/>
              <a:t>Great for </a:t>
            </a:r>
            <a:r>
              <a:rPr lang="en-US" sz="2000" b="1" i="1" u="sng" dirty="0"/>
              <a:t>manual data entry</a:t>
            </a:r>
          </a:p>
          <a:p>
            <a:r>
              <a:rPr lang="en-US" sz="2000" b="1" i="1" u="sng" dirty="0"/>
              <a:t>Easy to update</a:t>
            </a:r>
            <a:r>
              <a:rPr lang="en-US" sz="2000" dirty="0"/>
              <a:t> cell data manually or via formulas</a:t>
            </a:r>
          </a:p>
          <a:p>
            <a:r>
              <a:rPr lang="en-US" sz="2000" dirty="0"/>
              <a:t>Helpful for quick analysis (Ctrl + Q)</a:t>
            </a:r>
          </a:p>
          <a:p>
            <a:r>
              <a:rPr lang="en-US" sz="2000" dirty="0"/>
              <a:t>Good for creating </a:t>
            </a:r>
            <a:r>
              <a:rPr lang="en-US" sz="2000" b="1" dirty="0"/>
              <a:t>some</a:t>
            </a:r>
            <a:r>
              <a:rPr lang="en-US" sz="2000" dirty="0"/>
              <a:t> visualizations with charts, graphs, and PivotTables</a:t>
            </a:r>
          </a:p>
          <a:p>
            <a:pPr lvl="1"/>
            <a:r>
              <a:rPr lang="en-US" sz="1800" dirty="0"/>
              <a:t>Although Excel can create one-off reports, </a:t>
            </a:r>
            <a:br>
              <a:rPr lang="en-US" sz="1800" dirty="0"/>
            </a:br>
            <a:r>
              <a:rPr lang="en-US" sz="1800" dirty="0"/>
              <a:t>Power BI does it better.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44A046-9B81-BDE9-5FFC-363D2056C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 Excel vs MS Power BI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2DA360-4646-B3F6-98B3-4A9085B8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530CE96-A7A1-1BD3-458F-46FB38A48273}"/>
              </a:ext>
            </a:extLst>
          </p:cNvPr>
          <p:cNvGrpSpPr/>
          <p:nvPr/>
        </p:nvGrpSpPr>
        <p:grpSpPr>
          <a:xfrm>
            <a:off x="6022643" y="1133856"/>
            <a:ext cx="6083218" cy="5623874"/>
            <a:chOff x="6022643" y="1133856"/>
            <a:chExt cx="6083218" cy="5623874"/>
          </a:xfrm>
        </p:grpSpPr>
        <p:pic>
          <p:nvPicPr>
            <p:cNvPr id="8" name="Picture 7" descr="A yellow rectangular objects on a black background&#10;&#10;Description automatically generated">
              <a:extLst>
                <a:ext uri="{FF2B5EF4-FFF2-40B4-BE49-F238E27FC236}">
                  <a16:creationId xmlns:a16="http://schemas.microsoft.com/office/drawing/2014/main" id="{10289989-5C79-EE65-1435-7B3845DE6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3380" y="1292352"/>
              <a:ext cx="1592580" cy="1592580"/>
            </a:xfrm>
            <a:prstGeom prst="rect">
              <a:avLst/>
            </a:prstGeom>
          </p:spPr>
        </p:pic>
        <p:sp>
          <p:nvSpPr>
            <p:cNvPr id="9" name="Text Placeholder 3">
              <a:extLst>
                <a:ext uri="{FF2B5EF4-FFF2-40B4-BE49-F238E27FC236}">
                  <a16:creationId xmlns:a16="http://schemas.microsoft.com/office/drawing/2014/main" id="{F39EA79E-2E39-CBD6-3969-94347F967AE7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3145536"/>
              <a:ext cx="6009861" cy="361219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30188" marR="0" indent="-230188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9DDC"/>
                </a:buClr>
                <a:buSzTx/>
                <a:buFont typeface="Arial"/>
                <a:buChar char="•"/>
                <a:tabLst/>
                <a:def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01638" indent="-173038" algn="l" defTabSz="457200" rtl="0" eaLnBrk="1" latinLnBrk="0" hangingPunct="1">
                <a:spcBef>
                  <a:spcPct val="20000"/>
                </a:spcBef>
                <a:buClr>
                  <a:srgbClr val="009DDC"/>
                </a:buClr>
                <a:buFont typeface="Arial"/>
                <a:buChar char="•"/>
                <a:tabLst/>
                <a:defRPr lang="en-US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30238" indent="-173038" algn="l" defTabSz="457200" rtl="0" eaLnBrk="1" latinLnBrk="0" hangingPunct="1">
                <a:spcBef>
                  <a:spcPct val="20000"/>
                </a:spcBef>
                <a:buClr>
                  <a:srgbClr val="009DDC"/>
                </a:buClr>
                <a:buFont typeface="Arial"/>
                <a:buChar char="•"/>
                <a:tabLst/>
                <a:defRPr lang="en-US"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58838" indent="-173038" algn="l" defTabSz="457200" rtl="0" eaLnBrk="1" latinLnBrk="0" hangingPunct="1">
                <a:spcBef>
                  <a:spcPct val="20000"/>
                </a:spcBef>
                <a:buClr>
                  <a:srgbClr val="009DDC"/>
                </a:buClr>
                <a:buFont typeface="Arial" panose="020B0604020202020204" pitchFamily="34" charset="0"/>
                <a:buChar char="•"/>
                <a:defRPr lang="en-US"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30288" indent="-171450" algn="l" defTabSz="457200" rtl="0" eaLnBrk="1" latinLnBrk="0" hangingPunct="1">
                <a:spcBef>
                  <a:spcPct val="20000"/>
                </a:spcBef>
                <a:buClr>
                  <a:srgbClr val="009DDC"/>
                </a:buClr>
                <a:buFont typeface="Arial" panose="020B0604020202020204" pitchFamily="34" charset="0"/>
                <a:buChar char="•"/>
                <a:defRPr lang="en-US"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98563" indent="-168275" algn="l" defTabSz="457200" rtl="0" eaLnBrk="1" latinLnBrk="0" hangingPunct="1">
                <a:spcBef>
                  <a:spcPct val="20000"/>
                </a:spcBef>
                <a:buClr>
                  <a:srgbClr val="009DDC"/>
                </a:buClr>
                <a:buFont typeface="Arial"/>
                <a:buChar char="•"/>
                <a:defRPr lang="en-US" sz="14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16038" indent="-117475" algn="l" defTabSz="457200" rtl="0" eaLnBrk="1" latinLnBrk="0" hangingPunct="1">
                <a:spcBef>
                  <a:spcPct val="20000"/>
                </a:spcBef>
                <a:buClr>
                  <a:srgbClr val="009DDC"/>
                </a:buClr>
                <a:buFont typeface="Arial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/>
                <a:t>Ideal for interactive, scalable, and shareable </a:t>
              </a:r>
              <a:r>
                <a:rPr lang="en-US" sz="2000" b="1" dirty="0"/>
                <a:t>reports</a:t>
              </a:r>
            </a:p>
            <a:p>
              <a:r>
                <a:rPr lang="en-US" sz="2000" b="1" dirty="0"/>
                <a:t>Robust features</a:t>
              </a:r>
              <a:r>
                <a:rPr lang="en-US" sz="2000" dirty="0"/>
                <a:t> (e.g., AI) for analysis and visualization</a:t>
              </a:r>
            </a:p>
            <a:p>
              <a:pPr lvl="1"/>
              <a:r>
                <a:rPr lang="en-US" sz="1800" dirty="0"/>
                <a:t>EX: Advanced filtering (e.g. filter by page)</a:t>
              </a:r>
            </a:p>
            <a:p>
              <a:r>
                <a:rPr lang="en-US" sz="2000" b="1" i="1" u="sng" dirty="0"/>
                <a:t>Power BI is </a:t>
              </a:r>
              <a:r>
                <a:rPr lang="en-US" sz="2000" b="1" i="1" u="sng" dirty="0">
                  <a:solidFill>
                    <a:srgbClr val="FF0000"/>
                  </a:solidFill>
                </a:rPr>
                <a:t>not meant</a:t>
              </a:r>
              <a:r>
                <a:rPr lang="en-US" sz="2000" b="1" i="1" u="sng" dirty="0"/>
                <a:t> for data entry</a:t>
              </a:r>
            </a:p>
            <a:p>
              <a:pPr lvl="1"/>
              <a:r>
                <a:rPr lang="en-US" sz="1800" dirty="0"/>
                <a:t>We </a:t>
              </a:r>
              <a:r>
                <a:rPr lang="en-US" sz="1800" b="1" dirty="0"/>
                <a:t>cannot directly add, delete, or edit rows</a:t>
              </a:r>
            </a:p>
            <a:p>
              <a:pPr lvl="1"/>
              <a:r>
                <a:rPr lang="en-US" sz="1800" dirty="0"/>
                <a:t>Workarounds exist (Power Query) but require extra steps</a:t>
              </a:r>
            </a:p>
            <a:p>
              <a:r>
                <a:rPr lang="en-US" sz="2000" dirty="0"/>
                <a:t>Connect &amp; combine over 100 data sources.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BA7BF5-8C4B-A4E8-3BDB-03FF6790DA37}"/>
                </a:ext>
              </a:extLst>
            </p:cNvPr>
            <p:cNvSpPr/>
            <p:nvPr/>
          </p:nvSpPr>
          <p:spPr>
            <a:xfrm>
              <a:off x="6022643" y="1133856"/>
              <a:ext cx="6083218" cy="5413248"/>
            </a:xfrm>
            <a:prstGeom prst="rect">
              <a:avLst/>
            </a:prstGeom>
            <a:noFill/>
            <a:ln w="44450" cap="flat" cmpd="sng" algn="ctr">
              <a:solidFill>
                <a:srgbClr val="FBD12A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 err="1">
                <a:solidFill>
                  <a:srgbClr val="FF0000"/>
                </a:solidFill>
                <a:latin typeface="Arial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BD2FFA3-9D98-50B2-0724-D36BCB117C9A}"/>
              </a:ext>
            </a:extLst>
          </p:cNvPr>
          <p:cNvSpPr/>
          <p:nvPr/>
        </p:nvSpPr>
        <p:spPr>
          <a:xfrm>
            <a:off x="243840" y="1133856"/>
            <a:ext cx="5566847" cy="5413248"/>
          </a:xfrm>
          <a:prstGeom prst="rect">
            <a:avLst/>
          </a:prstGeom>
          <a:noFill/>
          <a:ln w="44450" cap="flat" cmpd="sng" algn="ctr">
            <a:solidFill>
              <a:srgbClr val="00A24B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sz="1100" b="1" kern="0" dirty="0" err="1">
              <a:solidFill>
                <a:srgbClr val="FF0000"/>
              </a:solidFill>
              <a:latin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19EAC8-2ED3-256F-DEB0-E85B54DA6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121" y="1346045"/>
            <a:ext cx="2552381" cy="158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4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2"/>
          <p:cNvSpPr txBox="1">
            <a:spLocks/>
          </p:cNvSpPr>
          <p:nvPr/>
        </p:nvSpPr>
        <p:spPr>
          <a:xfrm>
            <a:off x="2849060" y="741581"/>
            <a:ext cx="9192376" cy="5293540"/>
          </a:xfrm>
          <a:prstGeom prst="rect">
            <a:avLst/>
          </a:prstGeom>
        </p:spPr>
        <p:txBody>
          <a:bodyPr vert="horz" wrap="square" lIns="182880" tIns="146304" rIns="182880" bIns="146304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1E801F-615E-EC30-BEE0-809A919A4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00" y="1302040"/>
            <a:ext cx="11487056" cy="492096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/>
              <a:t>Excels ‘Power Tools’ are optional add-ins that extend Excel’s functionality.</a:t>
            </a:r>
          </a:p>
          <a:p>
            <a:pPr marL="0" lvl="0" indent="0">
              <a:buNone/>
            </a:pPr>
            <a:endParaRPr lang="en-US" sz="2000" noProof="0" dirty="0"/>
          </a:p>
          <a:p>
            <a:pPr marL="0" lvl="0" indent="0">
              <a:buNone/>
            </a:pPr>
            <a:r>
              <a:rPr lang="en-US" sz="2000" noProof="0" dirty="0"/>
              <a:t>They include:</a:t>
            </a:r>
          </a:p>
          <a:p>
            <a:pPr lvl="0"/>
            <a:r>
              <a:rPr lang="en-US" sz="2000" b="1" noProof="0" dirty="0"/>
              <a:t>Power Pivot</a:t>
            </a:r>
          </a:p>
          <a:p>
            <a:pPr lvl="1"/>
            <a:r>
              <a:rPr lang="en-US" noProof="0" dirty="0"/>
              <a:t>Data Modeling</a:t>
            </a:r>
          </a:p>
          <a:p>
            <a:pPr lvl="0"/>
            <a:r>
              <a:rPr lang="en-US" sz="2000" b="1" noProof="0" dirty="0"/>
              <a:t>Power Query</a:t>
            </a:r>
          </a:p>
          <a:p>
            <a:pPr lvl="1"/>
            <a:r>
              <a:rPr lang="en-US" dirty="0"/>
              <a:t>Data Transformation</a:t>
            </a:r>
            <a:endParaRPr lang="en-US" noProof="0" dirty="0"/>
          </a:p>
          <a:p>
            <a:pPr lvl="0"/>
            <a:r>
              <a:rPr lang="en-US" sz="2000" b="1" noProof="0" dirty="0"/>
              <a:t>Power Map</a:t>
            </a:r>
          </a:p>
          <a:p>
            <a:pPr lvl="1"/>
            <a:r>
              <a:rPr lang="en-US" dirty="0"/>
              <a:t>Plots data on a map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sz="2000" dirty="0"/>
              <a:t>There is an overlap between Excel &amp; Power BI; being familiar with Excel can make Power BI easier to learn.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C3A754-4B8B-6C6D-7B16-605C3F391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Power BI leverages the four Excel “Power Tools”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311C97-CB18-A8B7-DED0-6DC566427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536" y="1997933"/>
            <a:ext cx="8354900" cy="275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09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2">
            <a:extLst>
              <a:ext uri="{FF2B5EF4-FFF2-40B4-BE49-F238E27FC236}">
                <a16:creationId xmlns:a16="http://schemas.microsoft.com/office/drawing/2014/main" id="{B3359D6C-4BC8-6ECB-4C59-7BAC6CF49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8160BDD-7155-D744-B749-9730458604AD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63891-9A53-4FC2-A927-CCE736D6E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Power BI</a:t>
            </a:r>
            <a:r>
              <a:rPr lang="en-US" sz="2000" dirty="0"/>
              <a:t> is the platform/ecosystem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	Desktop</a:t>
            </a:r>
            <a:r>
              <a:rPr lang="en-US" sz="2000" dirty="0"/>
              <a:t> and </a:t>
            </a:r>
            <a:r>
              <a:rPr lang="en-US" sz="2000" b="1" dirty="0"/>
              <a:t>Service</a:t>
            </a:r>
            <a:r>
              <a:rPr lang="en-US" sz="2000" dirty="0"/>
              <a:t> are major components/applications within it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Reports are files that contain visuals and can be made in both the browser and desktop.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b="1" u="sng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b="1" u="sng" dirty="0"/>
              <a:t>Power BI Desktop</a:t>
            </a:r>
          </a:p>
          <a:p>
            <a:pPr lvl="1">
              <a:lnSpc>
                <a:spcPct val="90000"/>
              </a:lnSpc>
            </a:pPr>
            <a:r>
              <a:rPr lang="en-US" sz="2000" i="1" dirty="0"/>
              <a:t>Free Windows app (local software) </a:t>
            </a:r>
            <a:r>
              <a:rPr lang="en-US" sz="2000" dirty="0"/>
              <a:t>used for </a:t>
            </a:r>
            <a:r>
              <a:rPr lang="en-US" sz="2000" b="1" dirty="0"/>
              <a:t>creating reports and semantic models</a:t>
            </a:r>
            <a:r>
              <a:rPr lang="en-US" sz="2000" dirty="0"/>
              <a:t> with visualizations.</a:t>
            </a:r>
          </a:p>
          <a:p>
            <a:pPr marL="628650" lvl="2" indent="0">
              <a:lnSpc>
                <a:spcPct val="90000"/>
              </a:lnSpc>
              <a:buNone/>
            </a:pP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b="1" u="sng" dirty="0"/>
              <a:t>Power BI Service (Online)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 </a:t>
            </a:r>
            <a:r>
              <a:rPr lang="en-US" sz="2000" i="1" dirty="0"/>
              <a:t>cloud-based</a:t>
            </a:r>
            <a:r>
              <a:rPr lang="en-US" sz="2000" dirty="0"/>
              <a:t> platform that can be accessed by going to </a:t>
            </a:r>
            <a:r>
              <a:rPr lang="en-US" sz="2000" dirty="0">
                <a:hlinkClick r:id="rId2"/>
              </a:rPr>
              <a:t>https://app.powerbi.com</a:t>
            </a:r>
            <a:r>
              <a:rPr lang="en-US" sz="20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Used to view, interact &amp; </a:t>
            </a:r>
            <a:r>
              <a:rPr lang="en-US" sz="2000" i="1" u="sng" dirty="0">
                <a:highlight>
                  <a:srgbClr val="FFFF00"/>
                </a:highlight>
              </a:rPr>
              <a:t>share</a:t>
            </a:r>
            <a:r>
              <a:rPr lang="en-US" sz="2000" dirty="0"/>
              <a:t> reports </a:t>
            </a:r>
            <a:r>
              <a:rPr lang="en-US" sz="2000" b="1" i="1" u="sng" dirty="0"/>
              <a:t>directly through the web browser</a:t>
            </a:r>
            <a:r>
              <a:rPr lang="en-US" sz="20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Used for </a:t>
            </a:r>
            <a:r>
              <a:rPr lang="en-US" sz="2000" b="1" dirty="0"/>
              <a:t>creating dashboards</a:t>
            </a:r>
            <a:r>
              <a:rPr lang="en-US" sz="2000" dirty="0"/>
              <a:t> from published reports and </a:t>
            </a:r>
            <a:r>
              <a:rPr lang="en-US" sz="2000" b="1" dirty="0"/>
              <a:t>distributed to users/apps</a:t>
            </a:r>
            <a:endParaRPr lang="en-US" sz="2000" dirty="0"/>
          </a:p>
          <a:p>
            <a:pPr marL="628650" lvl="2" indent="0">
              <a:lnSpc>
                <a:spcPct val="90000"/>
              </a:lnSpc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D77297-BBB6-4485-9172-1F731C721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US" dirty="0"/>
              <a:t>Components of Power BI Platform - Overview </a:t>
            </a:r>
          </a:p>
        </p:txBody>
      </p:sp>
    </p:spTree>
    <p:extLst>
      <p:ext uri="{BB962C8B-B14F-4D97-AF65-F5344CB8AC3E}">
        <p14:creationId xmlns:p14="http://schemas.microsoft.com/office/powerpoint/2010/main" val="143861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2C993-E15A-BBB2-A78E-63AF08360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2">
            <a:extLst>
              <a:ext uri="{FF2B5EF4-FFF2-40B4-BE49-F238E27FC236}">
                <a16:creationId xmlns:a16="http://schemas.microsoft.com/office/drawing/2014/main" id="{8AD487A3-B047-D6AD-F4F2-7380F6C8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8160BDD-7155-D744-B749-9730458604AD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9154D-9A99-4983-6358-0A57C4A15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Power BI Desktop is </a:t>
            </a:r>
            <a:r>
              <a:rPr lang="en-US" sz="2000" b="1" i="1" u="sng" dirty="0"/>
              <a:t>free!</a:t>
            </a:r>
            <a:r>
              <a:rPr lang="en-US" sz="2000" b="1" i="1" dirty="0"/>
              <a:t> You do not need a paid license.</a:t>
            </a:r>
            <a:endParaRPr lang="en-US" sz="2000" b="1" i="1" u="sng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Great for creating and viewing reports; used for solo work.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Download the software either: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        - By the app directly from the official MS Store at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		</a:t>
            </a:r>
            <a:r>
              <a:rPr lang="en-US" sz="2000" dirty="0">
                <a:hlinkClick r:id="rId3"/>
              </a:rPr>
              <a:t>https://go.microsoft.com/fwlink/?LinkId=2240819&amp;clcid=0x409&amp;culture=en-us&amp;country=us</a:t>
            </a: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        - Or from the official website at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		</a:t>
            </a:r>
            <a:r>
              <a:rPr lang="en-US" sz="2000" dirty="0">
                <a:hlinkClick r:id="rId4"/>
              </a:rPr>
              <a:t>https://www.microsoft.com/en-us/download/details.aspx?id=58494</a:t>
            </a: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Additional Info: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	- No need to sign into Desktop app.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	- Save and view your work locally on your PC as .PBIX files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	Note that reports can be viewed locally. Other reports can be seen in Premium capacity.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			- Premium Capacity -&gt; A large server your company rents from Microsoft that lets Free license 				users view reports stored in it.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944CF-09AB-A94F-951A-AE7C13B4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US" dirty="0"/>
              <a:t>Component #1: Power BI Desktop (Local) Software - </a:t>
            </a:r>
            <a:r>
              <a:rPr lang="en-US" dirty="0">
                <a:hlinkClick r:id="rId5"/>
              </a:rPr>
              <a:t>Link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2226E6-D320-0594-5B4D-0633CCAE52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235" r="38033" b="11575"/>
          <a:stretch>
            <a:fillRect/>
          </a:stretch>
        </p:blipFill>
        <p:spPr>
          <a:xfrm>
            <a:off x="62814" y="4650388"/>
            <a:ext cx="786173" cy="113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7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96BF4-138F-B38C-38B9-E3FECC1A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2">
            <a:extLst>
              <a:ext uri="{FF2B5EF4-FFF2-40B4-BE49-F238E27FC236}">
                <a16:creationId xmlns:a16="http://schemas.microsoft.com/office/drawing/2014/main" id="{4DDDE63B-CFAE-861B-AA5A-F77DFCB61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8160BDD-7155-D744-B749-9730458604AD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BAFA5-458A-A9BF-BE2D-C9A08FD06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The Power BI Service (cloud) is available at </a:t>
            </a:r>
            <a:r>
              <a:rPr lang="en-US" sz="2000" dirty="0">
                <a:hlinkClick r:id="rId2" action="ppaction://hlinkfile"/>
              </a:rPr>
              <a:t>app.powerbi.com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Benefits:</a:t>
            </a:r>
          </a:p>
          <a:p>
            <a:pPr lvl="1"/>
            <a:r>
              <a:rPr lang="en-US" dirty="0"/>
              <a:t>Reports can be published and shared with others. </a:t>
            </a:r>
          </a:p>
          <a:p>
            <a:pPr lvl="2"/>
            <a:r>
              <a:rPr lang="en-US" dirty="0"/>
              <a:t>Users with a free license can still access reports, although with some limitations. </a:t>
            </a:r>
          </a:p>
          <a:p>
            <a:pPr lvl="1"/>
            <a:r>
              <a:rPr lang="en-US" dirty="0"/>
              <a:t>Collaborate in workspaces (free users have access to only one workspace called </a:t>
            </a:r>
            <a:r>
              <a:rPr lang="en-US" b="1" dirty="0"/>
              <a:t>"My Workspace"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Power BI Service allows users to create and view dashboards (which we'll discuss later).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B4A7A-EEC6-8589-91D3-4BC238ABF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US"/>
              <a:t>Component #2: Power BI Service (Online/For the Web)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91C2E2-385F-D864-CFCF-58D698C69B0E}"/>
              </a:ext>
            </a:extLst>
          </p:cNvPr>
          <p:cNvSpPr txBox="1"/>
          <p:nvPr/>
        </p:nvSpPr>
        <p:spPr>
          <a:xfrm>
            <a:off x="5711745" y="4837490"/>
            <a:ext cx="6282391" cy="15881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SaaS (Software as a Service) </a:t>
            </a:r>
            <a:r>
              <a:rPr lang="en-US" sz="1800" dirty="0"/>
              <a:t>= A Layer/Type of Cloud Computing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t</a:t>
            </a:r>
            <a:r>
              <a:rPr lang="en-US" sz="1800" dirty="0"/>
              <a:t>hat rents software that runs on someone else’s cloud servers.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	- </a:t>
            </a:r>
            <a:r>
              <a:rPr lang="en-US" sz="1800" dirty="0"/>
              <a:t>You don’t install/maintain it yourself;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	</a:t>
            </a:r>
            <a:r>
              <a:rPr lang="en-US" sz="1800" dirty="0"/>
              <a:t>- </a:t>
            </a:r>
            <a:r>
              <a:rPr lang="en-US" dirty="0"/>
              <a:t>Y</a:t>
            </a:r>
            <a:r>
              <a:rPr lang="en-US" sz="1800" dirty="0"/>
              <a:t>ou access it over the internet and pay for what you use, usually via a subscription.</a:t>
            </a:r>
          </a:p>
          <a:p>
            <a:pPr>
              <a:lnSpc>
                <a:spcPct val="90000"/>
              </a:lnSpc>
            </a:pPr>
            <a:r>
              <a:rPr lang="en-US" b="1" dirty="0"/>
              <a:t>(PaaS)</a:t>
            </a:r>
            <a:r>
              <a:rPr lang="en-US" dirty="0"/>
              <a:t> - Where you can build and run code.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0B475-D173-2B9E-635D-0AD2B52CFB53}"/>
              </a:ext>
            </a:extLst>
          </p:cNvPr>
          <p:cNvSpPr txBox="1"/>
          <p:nvPr/>
        </p:nvSpPr>
        <p:spPr>
          <a:xfrm>
            <a:off x="530592" y="4210517"/>
            <a:ext cx="4923117" cy="2417516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The Cloud</a:t>
            </a:r>
            <a:r>
              <a:rPr lang="en-US" sz="1800" dirty="0"/>
              <a:t> = A broad concept</a:t>
            </a:r>
            <a:r>
              <a:rPr lang="en-US" dirty="0"/>
              <a:t>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Essentially is </a:t>
            </a:r>
            <a:r>
              <a:rPr lang="en-US" sz="1800" dirty="0"/>
              <a:t>a bunch of remote servers (computers) that people can use &amp; access over the internet, even though they’re owned by someone else.</a:t>
            </a:r>
          </a:p>
        </p:txBody>
      </p:sp>
    </p:spTree>
    <p:extLst>
      <p:ext uri="{BB962C8B-B14F-4D97-AF65-F5344CB8AC3E}">
        <p14:creationId xmlns:p14="http://schemas.microsoft.com/office/powerpoint/2010/main" val="2864170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ACE19-506C-D8DB-D612-7117B31EC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770464-A229-67E9-5AFE-00C5CF8E3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D082000-9AE7-7D51-4F3E-5302A6A5B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Picture taken on June 9</a:t>
            </a:r>
            <a:r>
              <a:rPr lang="en-US" baseline="30000" dirty="0"/>
              <a:t>th</a:t>
            </a:r>
            <a:r>
              <a:rPr lang="en-US" dirty="0"/>
              <a:t>, 2026 </a:t>
            </a:r>
            <a:r>
              <a:rPr lang="en-US" baseline="30000" dirty="0"/>
              <a:t>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4B09DC-1406-5099-8B27-481CA439C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Power BI Licensing - </a:t>
            </a:r>
            <a:r>
              <a:rPr lang="en-US" dirty="0">
                <a:hlinkClick r:id="rId3"/>
              </a:rPr>
              <a:t>Link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300F51-D7C6-B81D-2B63-BDA945E996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48"/>
          <a:stretch>
            <a:fillRect/>
          </a:stretch>
        </p:blipFill>
        <p:spPr>
          <a:xfrm>
            <a:off x="100256" y="1707595"/>
            <a:ext cx="11991487" cy="505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0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D41888-C4BC-BA73-E3A5-E1396CA4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60BDD-7155-D744-B749-9730458604A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AB547-F57A-A0B3-B826-13467348F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Choos</a:t>
            </a:r>
            <a:r>
              <a:rPr lang="en-US" dirty="0"/>
              <a:t>ing</a:t>
            </a:r>
            <a:r>
              <a:rPr lang="en-US" sz="2000" dirty="0"/>
              <a:t> the right tool that connects to your organization’s data sources is important.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Choose </a:t>
            </a:r>
            <a:r>
              <a:rPr lang="en-US" sz="2000" i="1" u="sng" dirty="0"/>
              <a:t>Power BI Desktop</a:t>
            </a:r>
            <a:r>
              <a:rPr lang="en-US" sz="2000" dirty="0"/>
              <a:t> to connect to data, prepare it for analysis, and create visualizations.</a:t>
            </a:r>
          </a:p>
          <a:p>
            <a:r>
              <a:rPr lang="en-US" sz="2000" dirty="0"/>
              <a:t>Choose </a:t>
            </a:r>
            <a:r>
              <a:rPr lang="en-US" sz="2000" i="1" u="sng" dirty="0"/>
              <a:t>Power BI Service(Online)</a:t>
            </a:r>
            <a:r>
              <a:rPr lang="en-US" sz="2000" dirty="0"/>
              <a:t> when you need to share visualizations such as reports and dashboards.</a:t>
            </a:r>
          </a:p>
          <a:p>
            <a:r>
              <a:rPr lang="en-US" sz="2000" dirty="0"/>
              <a:t>Choose </a:t>
            </a:r>
            <a:r>
              <a:rPr lang="en-US" sz="2000" i="1" u="sng" dirty="0"/>
              <a:t>Microsoft Excel</a:t>
            </a:r>
            <a:r>
              <a:rPr lang="en-US" sz="2000" dirty="0"/>
              <a:t> when you need to capture and store data in cross-tab format.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DA58D3-29AF-8A13-02A0-575BAA8B6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26464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6991D1-444A-535F-FEE3-EB4604B0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r>
              <a:rPr lang="en-US" dirty="0"/>
              <a:t>Now this is not the end.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9F282F1-6A9B-4AEC-B229-20A3E6BF24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not even the beginning of the end. But it is, perhaps, the end of the beginning.</a:t>
            </a:r>
          </a:p>
          <a:p>
            <a:r>
              <a:rPr lang="en-US" b="1" dirty="0">
                <a:hlinkClick r:id="rId2"/>
              </a:rPr>
              <a:t>- Winston Churchill</a:t>
            </a:r>
            <a:endParaRPr lang="en-US" b="1" dirty="0"/>
          </a:p>
          <a:p>
            <a:endParaRPr lang="en-US" sz="200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CA2D6C0-020C-4B96-20DD-D9445C1DA3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1297" r="11297"/>
          <a:stretch>
            <a:fillRect/>
          </a:stretch>
        </p:blipFill>
        <p:spPr>
          <a:prstGeom prst="rect">
            <a:avLst/>
          </a:prstGeom>
          <a:solidFill>
            <a:prstClr val="white">
              <a:lumMod val="85000"/>
            </a:prstClr>
          </a:solidFill>
        </p:spPr>
      </p:pic>
    </p:spTree>
    <p:extLst>
      <p:ext uri="{BB962C8B-B14F-4D97-AF65-F5344CB8AC3E}">
        <p14:creationId xmlns:p14="http://schemas.microsoft.com/office/powerpoint/2010/main" val="3103268633"/>
      </p:ext>
    </p:extLst>
  </p:cSld>
  <p:clrMapOvr>
    <a:masterClrMapping/>
  </p:clrMapOvr>
</p:sld>
</file>

<file path=ppt/theme/theme1.xml><?xml version="1.0" encoding="utf-8"?>
<a:theme xmlns:a="http://schemas.openxmlformats.org/drawingml/2006/main" name="R- Visual Template">
  <a:themeElements>
    <a:clrScheme name="LO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9DDC"/>
      </a:accent1>
      <a:accent2>
        <a:srgbClr val="1D76BB"/>
      </a:accent2>
      <a:accent3>
        <a:srgbClr val="B2D237"/>
      </a:accent3>
      <a:accent4>
        <a:srgbClr val="1D3764"/>
      </a:accent4>
      <a:accent5>
        <a:srgbClr val="972883"/>
      </a:accent5>
      <a:accent6>
        <a:srgbClr val="5F1F5A"/>
      </a:accent6>
      <a:hlink>
        <a:srgbClr val="009DDC"/>
      </a:hlink>
      <a:folHlink>
        <a:srgbClr val="009DD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D3D33800-C233-4D93-AC77-74305B7F0AC7}" vid="{C9D56450-70BE-4D75-B771-77121AA81E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Props1.xml><?xml version="1.0" encoding="utf-8"?>
<ds:datastoreItem xmlns:ds="http://schemas.openxmlformats.org/officeDocument/2006/customXml" ds:itemID="{4CA8F0A8-0272-4870-9FED-50919032B8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4D9BD-AE11-4F3A-9185-74D1F42CA5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B7AAFC-BA46-4192-9EDD-FC31D26BDA5D}">
  <ds:schemaRefs>
    <ds:schemaRef ds:uri="http://www.w3.org/XML/1998/namespace"/>
    <ds:schemaRef ds:uri="http://schemas.microsoft.com/office/2006/metadata/properties"/>
    <ds:schemaRef ds:uri="http://purl.org/dc/elements/1.1/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16c05727-aa75-4e4a-9b5f-8a80a1165891"/>
    <ds:schemaRef ds:uri="71af3243-3dd4-4a8d-8c0d-dd76da1f02a5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1126</Words>
  <Application>Microsoft Office PowerPoint</Application>
  <PresentationFormat>Widescreen</PresentationFormat>
  <Paragraphs>137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Arial Black</vt:lpstr>
      <vt:lpstr>Avenir Next LT Pro Light</vt:lpstr>
      <vt:lpstr>Calibri</vt:lpstr>
      <vt:lpstr>Segoe UI Light</vt:lpstr>
      <vt:lpstr>Symbol</vt:lpstr>
      <vt:lpstr>R- Visual Template</vt:lpstr>
      <vt:lpstr>What is Power BI?</vt:lpstr>
      <vt:lpstr>What is Microsoft Power BI? - Link</vt:lpstr>
      <vt:lpstr>Data Visualization</vt:lpstr>
      <vt:lpstr>Workflow of how it works</vt:lpstr>
      <vt:lpstr>Connecting to Data Sources in Power BI - Link</vt:lpstr>
      <vt:lpstr>Prioritize Data Quality Over Data Sources</vt:lpstr>
      <vt:lpstr>MS Excel vs MS Power BI </vt:lpstr>
      <vt:lpstr>Power BI leverages the four Excel “Power Tools”</vt:lpstr>
      <vt:lpstr>Components of Power BI Platform - Overview </vt:lpstr>
      <vt:lpstr>Component #1: Power BI Desktop (Local) Software - Link </vt:lpstr>
      <vt:lpstr>Component #2: Power BI Service (Online/For the Web)</vt:lpstr>
      <vt:lpstr>Microsoft Power BI Licensing - Link</vt:lpstr>
      <vt:lpstr>Summary</vt:lpstr>
      <vt:lpstr>Now this is not the end.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Raza Tahir</dc:creator>
  <cp:lastModifiedBy>Raza Tahir</cp:lastModifiedBy>
  <cp:revision>177</cp:revision>
  <dcterms:created xsi:type="dcterms:W3CDTF">2026-02-20T01:44:53Z</dcterms:created>
  <dcterms:modified xsi:type="dcterms:W3CDTF">2026-06-10T05:10:14Z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